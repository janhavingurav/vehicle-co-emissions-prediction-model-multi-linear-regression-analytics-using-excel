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9" r:id="rId4"/>
    <p:sldId id="258" r:id="rId5"/>
    <p:sldId id="271" r:id="rId6"/>
    <p:sldId id="270" r:id="rId7"/>
    <p:sldId id="261" r:id="rId8"/>
    <p:sldId id="262" r:id="rId9"/>
    <p:sldId id="273" r:id="rId10"/>
    <p:sldId id="272" r:id="rId11"/>
    <p:sldId id="26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2" autoAdjust="0"/>
    <p:restoredTop sz="94660"/>
  </p:normalViewPr>
  <p:slideViewPr>
    <p:cSldViewPr snapToGrid="0">
      <p:cViewPr>
        <p:scale>
          <a:sx n="100" d="100"/>
          <a:sy n="100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862FD2-C610-4ADF-B392-0ADCDD082E9B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85ED61-3ED8-49AE-B6EE-FA24B8AC11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169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5ED61-3ED8-49AE-B6EE-FA24B8AC116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671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eia.gov/environment/emissions/carbon/" TargetMode="Externa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2.png"/><Relationship Id="rId7" Type="http://schemas.openxmlformats.org/officeDocument/2006/relationships/image" Target="../media/image1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ate of the Climate: New Jersey – New Jersey Climate Change Resource ...">
            <a:extLst>
              <a:ext uri="{FF2B5EF4-FFF2-40B4-BE49-F238E27FC236}">
                <a16:creationId xmlns:a16="http://schemas.microsoft.com/office/drawing/2014/main" id="{4A34C97E-F0E5-D827-E2FC-87BB348F9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4337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CO</a:t>
            </a:r>
            <a:r>
              <a:rPr lang="en-US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Emissions by vehicles using Regression.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82974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u="sng">
                <a:latin typeface="Times New Roman"/>
                <a:cs typeface="Times New Roman"/>
              </a:rPr>
              <a:t>Final Project Presentation: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/>
                <a:cs typeface="Times New Roman"/>
              </a:rPr>
              <a:t>BUS 510 Business Analytics &amp; Decision Modeling (Fall 2025)</a:t>
            </a:r>
          </a:p>
          <a:p>
            <a:r>
              <a:rPr lang="en-US" sz="2000" u="sng">
                <a:latin typeface="Times New Roman"/>
                <a:cs typeface="Times New Roman"/>
              </a:rPr>
              <a:t>Presented by: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/>
                <a:cs typeface="Times New Roman"/>
              </a:rPr>
              <a:t>Janhavi Gurav, John </a:t>
            </a:r>
            <a:r>
              <a:rPr lang="en-US" sz="2000" err="1">
                <a:latin typeface="Times New Roman"/>
                <a:cs typeface="Times New Roman"/>
              </a:rPr>
              <a:t>Ponnett</a:t>
            </a:r>
            <a:r>
              <a:rPr lang="en-US" sz="2000">
                <a:latin typeface="Times New Roman"/>
                <a:cs typeface="Times New Roman"/>
              </a:rPr>
              <a:t>, Leona </a:t>
            </a:r>
            <a:r>
              <a:rPr lang="en-US" sz="2000" err="1">
                <a:latin typeface="Times New Roman"/>
                <a:cs typeface="Times New Roman"/>
              </a:rPr>
              <a:t>Strine</a:t>
            </a:r>
          </a:p>
        </p:txBody>
      </p:sp>
      <p:pic>
        <p:nvPicPr>
          <p:cNvPr id="5" name="Picture 4" descr="A blue and white logo on a black background&#10;&#10;AI-generated content may be incorrect.">
            <a:extLst>
              <a:ext uri="{FF2B5EF4-FFF2-40B4-BE49-F238E27FC236}">
                <a16:creationId xmlns:a16="http://schemas.microsoft.com/office/drawing/2014/main" id="{46FEABC5-54AF-DAAF-2185-20A70A8681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9" t="16924" r="64235" b="20162"/>
          <a:stretch>
            <a:fillRect/>
          </a:stretch>
        </p:blipFill>
        <p:spPr>
          <a:xfrm>
            <a:off x="11634281" y="99116"/>
            <a:ext cx="437746" cy="4650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EB5D54-1658-1F1F-EA97-DDE88109DB04}"/>
              </a:ext>
            </a:extLst>
          </p:cNvPr>
          <p:cNvSpPr/>
          <p:nvPr/>
        </p:nvSpPr>
        <p:spPr>
          <a:xfrm>
            <a:off x="0" y="5948261"/>
            <a:ext cx="12192000" cy="91926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9625096-2D3C-0380-AAF0-851228838AA7}"/>
              </a:ext>
            </a:extLst>
          </p:cNvPr>
          <p:cNvSpPr/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89F0B-9527-ABEB-EC7C-118D4B81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AC6C6-252D-F5B1-911C-8B36C8161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731" y="1673059"/>
            <a:ext cx="6833259" cy="477705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is one of the largest contributors to greenhouse gas emissions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policy is a complex challenge faced by numerous stakeholders globally, including governments, automative manufacturers, and environmental agencies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are growing increasingly conscious of the impact of their individual choices on the environment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multiple linear regression to create a model to predict carbon dioxide emissions based on a series of vehicle-specific characteristics and understand which cause the largest impact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blue and white logo on a black background&#10;&#10;AI-generated content may be incorrect.">
            <a:extLst>
              <a:ext uri="{FF2B5EF4-FFF2-40B4-BE49-F238E27FC236}">
                <a16:creationId xmlns:a16="http://schemas.microsoft.com/office/drawing/2014/main" id="{31988D4D-AB3A-7A27-9A32-B66C4A9439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9" t="16924" r="64235" b="20162"/>
          <a:stretch>
            <a:fillRect/>
          </a:stretch>
        </p:blipFill>
        <p:spPr>
          <a:xfrm>
            <a:off x="11634281" y="99116"/>
            <a:ext cx="437746" cy="46508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0E17955-361C-B7BB-4A3F-C04B4E94CF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5180" y="1551535"/>
            <a:ext cx="5349479" cy="44183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BBA168-3A0B-EA64-A693-7B97991147A9}"/>
              </a:ext>
            </a:extLst>
          </p:cNvPr>
          <p:cNvSpPr txBox="1"/>
          <p:nvPr/>
        </p:nvSpPr>
        <p:spPr>
          <a:xfrm>
            <a:off x="7434545" y="5969876"/>
            <a:ext cx="44186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Source: </a:t>
            </a:r>
            <a:r>
              <a:rPr lang="en-US" sz="1600" dirty="0">
                <a:hlinkClick r:id="rId5"/>
              </a:rPr>
              <a:t>US Energy Information Administration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7214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EFF02AB-02D1-D7D6-A4A4-AE27E48673F6}"/>
              </a:ext>
            </a:extLst>
          </p:cNvPr>
          <p:cNvSpPr/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FC133-8FED-6237-C31A-E01B7A666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11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8F24D-B278-D268-A0F5-6B09C9F5E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Data was accessed through Kaggle.</a:t>
            </a:r>
          </a:p>
          <a:p>
            <a:r>
              <a:rPr lang="en-US">
                <a:latin typeface="Times New Roman"/>
                <a:cs typeface="Times New Roman"/>
              </a:rPr>
              <a:t>Data was published by the Canadian Government as part of their natural resources and environmental reporting. </a:t>
            </a:r>
          </a:p>
          <a:p>
            <a:r>
              <a:rPr lang="en-US">
                <a:latin typeface="Times New Roman"/>
                <a:cs typeface="Times New Roman"/>
              </a:rPr>
              <a:t>Contains variables such as make, car model, vehicle class, fuel types, engine characteristics, fuel consumption ratings, and certified CO₂ emissions for multiple vehicle models.</a:t>
            </a:r>
          </a:p>
          <a:p>
            <a:r>
              <a:rPr lang="en-US">
                <a:latin typeface="Times New Roman"/>
                <a:cs typeface="Times New Roman"/>
              </a:rPr>
              <a:t>Data was clean, but required: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Dummy variable creation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Elimination of redundant predictors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Randomized splitting for cross-validation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blue and white logo on a black background&#10;&#10;AI-generated content may be incorrect.">
            <a:extLst>
              <a:ext uri="{FF2B5EF4-FFF2-40B4-BE49-F238E27FC236}">
                <a16:creationId xmlns:a16="http://schemas.microsoft.com/office/drawing/2014/main" id="{D4CCD46F-2B26-ED3D-E26D-E56C707BD41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9" t="16924" r="64235" b="20162"/>
          <a:stretch>
            <a:fillRect/>
          </a:stretch>
        </p:blipFill>
        <p:spPr>
          <a:xfrm>
            <a:off x="11634281" y="99116"/>
            <a:ext cx="437746" cy="46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58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18EECB2-10A1-1C2A-B61F-8C86734A6EAB}"/>
              </a:ext>
            </a:extLst>
          </p:cNvPr>
          <p:cNvSpPr/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DB849D-A045-B788-835A-924C24FE1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006" y="5149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424E8-8004-B1BE-57D7-C82D87EC7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192" y="147085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Variable (Y):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CO₂ Emissions (g/km)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actual emissions measured by regulatory agencies.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Variables (X):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Consumption Combined (L/100 km)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variable indicates the fuel consumption combined on highways and in cities. (Individual values for highway &amp; city mentioned in the data sheet.) 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Strongest theoretical predictor of emissions (direct relationship).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Size (L)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engines burn more fuel → more emissions.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Type (Dummy Variables):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values are converted into A6, A8 → Automatic, M5, M6, M7 → Manual,  AM6, AS5, AV7 → Semi-Automatic &amp; then turned into dummy variables.</a:t>
            </a:r>
          </a:p>
          <a:p>
            <a:pPr lvl="1"/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Trans_Manual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 = manual, 0 = otherwise)</a:t>
            </a:r>
          </a:p>
          <a:p>
            <a:pPr lvl="1"/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Trans_SemiAuto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 =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SemiAuto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0 = otherwise)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becomes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Type (Dummies):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→ Diesel, E → Ethanol (E85) , N → Natural gas, X → Premium Gasoline, Z → Regular Gasoline</a:t>
            </a:r>
          </a:p>
          <a:p>
            <a:pPr lvl="1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Dummy variables: Fuel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Type_D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Fuel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Type_E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Fuel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Type_Z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Fuel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Type_X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66924C-3F65-4585-F2A8-D2B2392A32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610"/>
          <a:stretch>
            <a:fillRect/>
          </a:stretch>
        </p:blipFill>
        <p:spPr>
          <a:xfrm>
            <a:off x="5581139" y="4701849"/>
            <a:ext cx="5558653" cy="6572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D0C738-EEC5-BF82-73DD-80B6305A10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668"/>
          <a:stretch>
            <a:fillRect/>
          </a:stretch>
        </p:blipFill>
        <p:spPr>
          <a:xfrm>
            <a:off x="7991474" y="1703526"/>
            <a:ext cx="3148318" cy="6784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D89B38-E9C4-0F6F-F55D-5A2B01235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961" y="3204622"/>
            <a:ext cx="3734831" cy="674573"/>
          </a:xfrm>
          <a:prstGeom prst="rect">
            <a:avLst/>
          </a:prstGeom>
        </p:spPr>
      </p:pic>
      <p:pic>
        <p:nvPicPr>
          <p:cNvPr id="16" name="Picture 15" descr="A blue and white logo on a black background&#10;&#10;AI-generated content may be incorrect.">
            <a:extLst>
              <a:ext uri="{FF2B5EF4-FFF2-40B4-BE49-F238E27FC236}">
                <a16:creationId xmlns:a16="http://schemas.microsoft.com/office/drawing/2014/main" id="{85D45F45-C3BF-8B4B-2A96-2C939E13C2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9" t="16924" r="64235" b="20162"/>
          <a:stretch>
            <a:fillRect/>
          </a:stretch>
        </p:blipFill>
        <p:spPr>
          <a:xfrm>
            <a:off x="11634281" y="99116"/>
            <a:ext cx="437746" cy="46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403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DD25F-49F5-1549-9791-442FFC42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1F0CF4-71FD-579D-8A07-0921E0ADB981}"/>
              </a:ext>
            </a:extLst>
          </p:cNvPr>
          <p:cNvSpPr/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027749-4DCA-E92D-C8A8-CC28FAE4D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Tests: Significance &amp; Normality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A8B37-E49C-F539-6DF5-158508154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031" y="1494784"/>
            <a:ext cx="11427249" cy="4777055"/>
          </a:xfrm>
        </p:spPr>
        <p:txBody>
          <a:bodyPr>
            <a:normAutofit/>
          </a:bodyPr>
          <a:lstStyle/>
          <a:p>
            <a:r>
              <a:rPr lang="en-US" sz="2600"/>
              <a:t>Significance F &lt; 0.001 is less than alpha of 0.05 -&gt; </a:t>
            </a:r>
            <a:r>
              <a:rPr lang="en-US" sz="2600" b="1" i="1"/>
              <a:t>Model</a:t>
            </a:r>
            <a:r>
              <a:rPr lang="en-US" sz="2600"/>
              <a:t> is </a:t>
            </a:r>
            <a:r>
              <a:rPr lang="en-US" sz="2600" b="1" i="1"/>
              <a:t>Significant</a:t>
            </a:r>
            <a:r>
              <a:rPr lang="en-US" sz="2600"/>
              <a:t> as a whole</a:t>
            </a:r>
          </a:p>
          <a:p>
            <a:r>
              <a:rPr lang="en-US" sz="2600"/>
              <a:t>P-values are less than alpha of 0.05 for all included independent variables </a:t>
            </a:r>
            <a:r>
              <a:rPr lang="en-US" sz="2600" i="1"/>
              <a:t>except </a:t>
            </a:r>
            <a:r>
              <a:rPr lang="en-US" sz="2600"/>
              <a:t>Transmission Semi-Automatic. All other variables are </a:t>
            </a:r>
            <a:r>
              <a:rPr lang="en-US" sz="2600" b="1" i="1"/>
              <a:t>Significant</a:t>
            </a:r>
          </a:p>
        </p:txBody>
      </p:sp>
      <p:pic>
        <p:nvPicPr>
          <p:cNvPr id="4" name="Picture 3" descr="A blue and white logo on a black background&#10;&#10;AI-generated content may be incorrect.">
            <a:extLst>
              <a:ext uri="{FF2B5EF4-FFF2-40B4-BE49-F238E27FC236}">
                <a16:creationId xmlns:a16="http://schemas.microsoft.com/office/drawing/2014/main" id="{9D364A2C-AD14-9648-2268-F9AD4305C5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9" t="16924" r="64235" b="20162"/>
          <a:stretch>
            <a:fillRect/>
          </a:stretch>
        </p:blipFill>
        <p:spPr>
          <a:xfrm>
            <a:off x="11634281" y="99116"/>
            <a:ext cx="437746" cy="4650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2E3C80-1D73-A4C8-5D6D-ACA02AA97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626" y="3192158"/>
            <a:ext cx="3358820" cy="364758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F18F655-B314-0B24-7D12-B68B5DDDAF6D}"/>
              </a:ext>
            </a:extLst>
          </p:cNvPr>
          <p:cNvGrpSpPr/>
          <p:nvPr/>
        </p:nvGrpSpPr>
        <p:grpSpPr>
          <a:xfrm>
            <a:off x="557720" y="4572000"/>
            <a:ext cx="6160072" cy="2286000"/>
            <a:chOff x="1231010" y="1827294"/>
            <a:chExt cx="8122300" cy="295643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126DD9B-4789-2DBE-A7F3-F6FD9AFF0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1010" y="1827294"/>
              <a:ext cx="8122300" cy="295643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B8E7C0-3FC1-0C5B-010A-DABDB33A89CD}"/>
                </a:ext>
              </a:extLst>
            </p:cNvPr>
            <p:cNvSpPr/>
            <p:nvPr/>
          </p:nvSpPr>
          <p:spPr>
            <a:xfrm>
              <a:off x="7117575" y="2406868"/>
              <a:ext cx="704193" cy="201798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C196F7B-EE0C-B3D5-2F21-C8180EF94AC2}"/>
              </a:ext>
            </a:extLst>
          </p:cNvPr>
          <p:cNvGrpSpPr/>
          <p:nvPr/>
        </p:nvGrpSpPr>
        <p:grpSpPr>
          <a:xfrm>
            <a:off x="1166676" y="3082422"/>
            <a:ext cx="4942160" cy="1660229"/>
            <a:chOff x="1166676" y="3082422"/>
            <a:chExt cx="4942160" cy="166022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6FA7CC4-4235-1C14-55F5-FA7329AB4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0778"/>
            <a:stretch>
              <a:fillRect/>
            </a:stretch>
          </p:blipFill>
          <p:spPr>
            <a:xfrm>
              <a:off x="1166676" y="3082422"/>
              <a:ext cx="4942160" cy="1660229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7062B45-25D0-DC8D-15B3-DE6F852D5657}"/>
                </a:ext>
              </a:extLst>
            </p:cNvPr>
            <p:cNvSpPr/>
            <p:nvPr/>
          </p:nvSpPr>
          <p:spPr>
            <a:xfrm>
              <a:off x="5454994" y="3392512"/>
              <a:ext cx="534070" cy="59332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6593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AA8B9-C7E7-8AD0-FCCD-0833ECC11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81BE5A7-609E-7E4F-243C-57A9BD0080D0}"/>
              </a:ext>
            </a:extLst>
          </p:cNvPr>
          <p:cNvGrpSpPr/>
          <p:nvPr/>
        </p:nvGrpSpPr>
        <p:grpSpPr>
          <a:xfrm>
            <a:off x="1376856" y="3549731"/>
            <a:ext cx="8965324" cy="3308269"/>
            <a:chOff x="1231010" y="1827294"/>
            <a:chExt cx="8122300" cy="295643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F348519-646C-791D-EF37-57022C3F7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1010" y="1827294"/>
              <a:ext cx="8122300" cy="2956433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D312341-FB5C-FA39-6325-FA7E86EED391}"/>
                </a:ext>
              </a:extLst>
            </p:cNvPr>
            <p:cNvSpPr/>
            <p:nvPr/>
          </p:nvSpPr>
          <p:spPr>
            <a:xfrm>
              <a:off x="8555421" y="2406869"/>
              <a:ext cx="704193" cy="201798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F9448CBD-E739-3613-A3A1-46F65ABB4BF0}"/>
              </a:ext>
            </a:extLst>
          </p:cNvPr>
          <p:cNvSpPr/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01CDEF-BEDB-30FF-EE4C-15920DDC2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Tests: Multicollinearity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BAF5E-A4D7-8EAE-836C-74ECE8836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032" y="1494784"/>
            <a:ext cx="11146768" cy="4777055"/>
          </a:xfrm>
        </p:spPr>
        <p:txBody>
          <a:bodyPr>
            <a:normAutofit/>
          </a:bodyPr>
          <a:lstStyle/>
          <a:p>
            <a:r>
              <a:rPr lang="en-US" dirty="0"/>
              <a:t>No independent variables exhibit high or moderate multi collinearity (all VIF &lt; 5.000)</a:t>
            </a:r>
          </a:p>
          <a:p>
            <a:r>
              <a:rPr lang="en-US" dirty="0"/>
              <a:t>Earlier proposal included number of engine cylinders, but this caused multi collinearity with the Engine Size variable, so Cylinders was discarded</a:t>
            </a:r>
          </a:p>
        </p:txBody>
      </p:sp>
      <p:pic>
        <p:nvPicPr>
          <p:cNvPr id="4" name="Picture 3" descr="A blue and white logo on a black background&#10;&#10;AI-generated content may be incorrect.">
            <a:extLst>
              <a:ext uri="{FF2B5EF4-FFF2-40B4-BE49-F238E27FC236}">
                <a16:creationId xmlns:a16="http://schemas.microsoft.com/office/drawing/2014/main" id="{6DAC3E6F-D42C-EF90-04A8-5A8F07589E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9" t="16924" r="64235" b="20162"/>
          <a:stretch>
            <a:fillRect/>
          </a:stretch>
        </p:blipFill>
        <p:spPr>
          <a:xfrm>
            <a:off x="11634281" y="99116"/>
            <a:ext cx="437746" cy="46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757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1D9247-BF57-49DC-AB0B-C27C2125527D}"/>
              </a:ext>
            </a:extLst>
          </p:cNvPr>
          <p:cNvSpPr/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D58F1-9CEF-238B-A152-08F81AAEA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7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82A17-E942-470E-9952-AEEDA787F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500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H₀: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Independent variables do NOT significantly predict CO₂ emissions.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least one variable significantly predicts CO₂ emissions.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Predictors (p &lt; 0.05):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Consumption (strongest)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Size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Type D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Type E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Manual (p = .005)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Insignificant Predictors: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SemiAuto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Reject H₀ — variables DO significantly predict emissions.</a:t>
            </a:r>
          </a:p>
        </p:txBody>
      </p:sp>
      <p:pic>
        <p:nvPicPr>
          <p:cNvPr id="4" name="Picture 3" descr="A blue and white logo on a black background&#10;&#10;AI-generated content may be incorrect.">
            <a:extLst>
              <a:ext uri="{FF2B5EF4-FFF2-40B4-BE49-F238E27FC236}">
                <a16:creationId xmlns:a16="http://schemas.microsoft.com/office/drawing/2014/main" id="{7C0B2EBA-2A5E-15CC-5FF9-007AD4C69A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9" t="16924" r="64235" b="20162"/>
          <a:stretch>
            <a:fillRect/>
          </a:stretch>
        </p:blipFill>
        <p:spPr>
          <a:xfrm>
            <a:off x="11634281" y="99116"/>
            <a:ext cx="437746" cy="465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07B740-1DBD-4FEB-9107-9E36C13D1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863" y="4213564"/>
            <a:ext cx="5502308" cy="200278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D22098-07C1-0153-FA30-13AFB57D4855}"/>
              </a:ext>
            </a:extLst>
          </p:cNvPr>
          <p:cNvSpPr/>
          <p:nvPr/>
        </p:nvSpPr>
        <p:spPr>
          <a:xfrm>
            <a:off x="10086975" y="4299997"/>
            <a:ext cx="552450" cy="182991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C0EB2A-994F-2637-8B2A-94C88CC88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863" y="1239764"/>
            <a:ext cx="5376953" cy="23353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E7F7F3-6FAC-0E8B-756B-19DF984E3738}"/>
              </a:ext>
            </a:extLst>
          </p:cNvPr>
          <p:cNvSpPr/>
          <p:nvPr/>
        </p:nvSpPr>
        <p:spPr>
          <a:xfrm>
            <a:off x="10990366" y="1492492"/>
            <a:ext cx="552450" cy="182991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66AF72-3EFE-9EB7-EE60-16C0F567DFA3}"/>
              </a:ext>
            </a:extLst>
          </p:cNvPr>
          <p:cNvSpPr/>
          <p:nvPr/>
        </p:nvSpPr>
        <p:spPr>
          <a:xfrm>
            <a:off x="10009291" y="1492492"/>
            <a:ext cx="552450" cy="182991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897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FF4634-5284-949B-2B95-1F77DCA15FF7}"/>
              </a:ext>
            </a:extLst>
          </p:cNvPr>
          <p:cNvSpPr/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37CD3-207D-EC4E-0FBB-90B4019A1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116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Model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7F0A7-880B-7F94-D43D-EFB7B57DD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429" y="1428805"/>
            <a:ext cx="11431200" cy="19052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Times New Roman"/>
                <a:cs typeface="Times New Roman"/>
              </a:rPr>
              <a:t>Training Model Results</a:t>
            </a:r>
          </a:p>
          <a:p>
            <a:r>
              <a:rPr lang="en-US" sz="1600">
                <a:latin typeface="Times New Roman"/>
                <a:cs typeface="Times New Roman"/>
              </a:rPr>
              <a:t>R</a:t>
            </a:r>
            <a:r>
              <a:rPr lang="en-US" sz="1600" baseline="30000">
                <a:latin typeface="Times New Roman"/>
                <a:cs typeface="Times New Roman"/>
              </a:rPr>
              <a:t>2</a:t>
            </a:r>
            <a:r>
              <a:rPr lang="en-US" sz="1600">
                <a:latin typeface="Times New Roman"/>
                <a:cs typeface="Times New Roman"/>
              </a:rPr>
              <a:t> = .991</a:t>
            </a:r>
            <a:endParaRPr lang="en-US" sz="1600"/>
          </a:p>
          <a:p>
            <a:pPr lvl="1"/>
            <a:r>
              <a:rPr lang="en-US" sz="1600">
                <a:latin typeface="Times New Roman"/>
                <a:cs typeface="Times New Roman"/>
              </a:rPr>
              <a:t>99.1% of the variation in dependent variable, CO</a:t>
            </a:r>
            <a:r>
              <a:rPr lang="en-US" sz="1600" baseline="-25000">
                <a:latin typeface="Times New Roman"/>
                <a:cs typeface="Times New Roman"/>
              </a:rPr>
              <a:t>2</a:t>
            </a:r>
            <a:r>
              <a:rPr lang="en-US" sz="1600">
                <a:latin typeface="Times New Roman"/>
                <a:cs typeface="Times New Roman"/>
              </a:rPr>
              <a:t> Emissions, is explained by the seven independent variables.</a:t>
            </a:r>
          </a:p>
          <a:p>
            <a:r>
              <a:rPr lang="en-US" sz="1600" b="1">
                <a:latin typeface="Times New Roman"/>
                <a:cs typeface="Times New Roman"/>
              </a:rPr>
              <a:t>Estimated Multiple Linear Regression Equation</a:t>
            </a:r>
            <a:r>
              <a:rPr lang="en-US" sz="1600">
                <a:latin typeface="Times New Roman"/>
                <a:cs typeface="Times New Roman"/>
              </a:rPr>
              <a:t>: Y = 7.083 + 0.861(</a:t>
            </a:r>
            <a:r>
              <a:rPr lang="en-US" sz="1600" err="1">
                <a:latin typeface="Times New Roman"/>
                <a:cs typeface="Times New Roman"/>
              </a:rPr>
              <a:t>x</a:t>
            </a:r>
            <a:r>
              <a:rPr lang="en-US" sz="1600" baseline="-25000" err="1">
                <a:latin typeface="Times New Roman"/>
                <a:cs typeface="Times New Roman"/>
              </a:rPr>
              <a:t>Engine</a:t>
            </a:r>
            <a:r>
              <a:rPr lang="en-US" sz="1600" baseline="-25000">
                <a:latin typeface="Times New Roman"/>
                <a:cs typeface="Times New Roman"/>
              </a:rPr>
              <a:t> Size</a:t>
            </a:r>
            <a:r>
              <a:rPr lang="en-US" sz="1600">
                <a:latin typeface="Times New Roman"/>
                <a:cs typeface="Times New Roman"/>
              </a:rPr>
              <a:t>) - 0.734 (</a:t>
            </a:r>
            <a:r>
              <a:rPr lang="en-US" sz="1600" err="1">
                <a:latin typeface="Times New Roman"/>
                <a:cs typeface="Times New Roman"/>
              </a:rPr>
              <a:t>x</a:t>
            </a:r>
            <a:r>
              <a:rPr lang="en-US" sz="1600" baseline="-25000" err="1">
                <a:latin typeface="Times New Roman"/>
                <a:cs typeface="Times New Roman"/>
              </a:rPr>
              <a:t>Trans_Manual</a:t>
            </a:r>
            <a:r>
              <a:rPr lang="en-US" sz="1600">
                <a:latin typeface="Times New Roman"/>
                <a:cs typeface="Times New Roman"/>
              </a:rPr>
              <a:t>) - 0.200(</a:t>
            </a:r>
            <a:r>
              <a:rPr lang="en-US" sz="1600" err="1">
                <a:latin typeface="Times New Roman"/>
                <a:cs typeface="Times New Roman"/>
              </a:rPr>
              <a:t>x</a:t>
            </a:r>
            <a:r>
              <a:rPr lang="en-US" sz="1600" baseline="-25000" err="1">
                <a:latin typeface="Times New Roman"/>
                <a:cs typeface="Times New Roman"/>
              </a:rPr>
              <a:t>Trans_Semiauto</a:t>
            </a:r>
            <a:r>
              <a:rPr lang="en-US" sz="1600">
                <a:latin typeface="Times New Roman"/>
                <a:cs typeface="Times New Roman"/>
              </a:rPr>
              <a:t>) + 0.484(</a:t>
            </a:r>
            <a:r>
              <a:rPr lang="en-US" sz="1600" err="1">
                <a:latin typeface="Times New Roman"/>
                <a:cs typeface="Times New Roman"/>
              </a:rPr>
              <a:t>x</a:t>
            </a:r>
            <a:r>
              <a:rPr lang="en-US" sz="1600" baseline="-25000" err="1">
                <a:latin typeface="Times New Roman"/>
                <a:cs typeface="Times New Roman"/>
              </a:rPr>
              <a:t>Fuel</a:t>
            </a:r>
            <a:r>
              <a:rPr lang="en-US" sz="1600" baseline="-25000">
                <a:latin typeface="Times New Roman"/>
                <a:cs typeface="Times New Roman"/>
              </a:rPr>
              <a:t> </a:t>
            </a:r>
            <a:r>
              <a:rPr lang="en-US" sz="1600" baseline="-25000" err="1">
                <a:latin typeface="Times New Roman"/>
                <a:cs typeface="Times New Roman"/>
              </a:rPr>
              <a:t>Type_Z</a:t>
            </a:r>
            <a:r>
              <a:rPr lang="en-US" sz="1600">
                <a:latin typeface="Times New Roman"/>
                <a:cs typeface="Times New Roman"/>
              </a:rPr>
              <a:t>) + 30.348(</a:t>
            </a:r>
            <a:r>
              <a:rPr lang="en-US" sz="1600" err="1">
                <a:latin typeface="Times New Roman"/>
                <a:cs typeface="Times New Roman"/>
              </a:rPr>
              <a:t>x</a:t>
            </a:r>
            <a:r>
              <a:rPr lang="en-US" sz="1600" baseline="-25000" err="1">
                <a:latin typeface="Times New Roman"/>
                <a:cs typeface="Times New Roman"/>
              </a:rPr>
              <a:t>Fuel</a:t>
            </a:r>
            <a:r>
              <a:rPr lang="en-US" sz="1600" baseline="-25000">
                <a:latin typeface="Times New Roman"/>
                <a:cs typeface="Times New Roman"/>
              </a:rPr>
              <a:t> </a:t>
            </a:r>
            <a:r>
              <a:rPr lang="en-US" sz="1600" baseline="-25000" err="1">
                <a:latin typeface="Times New Roman"/>
                <a:cs typeface="Times New Roman"/>
              </a:rPr>
              <a:t>Type_D</a:t>
            </a:r>
            <a:r>
              <a:rPr lang="en-US" sz="1600">
                <a:latin typeface="Times New Roman"/>
                <a:cs typeface="Times New Roman"/>
              </a:rPr>
              <a:t>) - 111.624(</a:t>
            </a:r>
            <a:r>
              <a:rPr lang="en-US" sz="1600" err="1">
                <a:latin typeface="Times New Roman"/>
                <a:cs typeface="Times New Roman"/>
              </a:rPr>
              <a:t>x</a:t>
            </a:r>
            <a:r>
              <a:rPr lang="en-US" sz="1600" baseline="-25000" err="1">
                <a:latin typeface="Times New Roman"/>
                <a:cs typeface="Times New Roman"/>
              </a:rPr>
              <a:t>Fuel</a:t>
            </a:r>
            <a:r>
              <a:rPr lang="en-US" sz="1600" baseline="-25000">
                <a:latin typeface="Times New Roman"/>
                <a:cs typeface="Times New Roman"/>
              </a:rPr>
              <a:t> </a:t>
            </a:r>
            <a:r>
              <a:rPr lang="en-US" sz="1600" baseline="-25000" err="1">
                <a:latin typeface="Times New Roman"/>
                <a:cs typeface="Times New Roman"/>
              </a:rPr>
              <a:t>Type_E</a:t>
            </a:r>
            <a:r>
              <a:rPr lang="en-US" sz="1600">
                <a:latin typeface="Times New Roman"/>
                <a:cs typeface="Times New Roman"/>
              </a:rPr>
              <a:t>) + 22.391(</a:t>
            </a:r>
            <a:r>
              <a:rPr lang="en-US" sz="1600" err="1">
                <a:latin typeface="Times New Roman"/>
                <a:cs typeface="Times New Roman"/>
              </a:rPr>
              <a:t>x</a:t>
            </a:r>
            <a:r>
              <a:rPr lang="en-US" sz="1600" baseline="-25000" err="1">
                <a:latin typeface="Times New Roman"/>
                <a:cs typeface="Times New Roman"/>
              </a:rPr>
              <a:t>Fuel</a:t>
            </a:r>
            <a:r>
              <a:rPr lang="en-US" sz="1600" baseline="-25000">
                <a:latin typeface="Times New Roman"/>
                <a:cs typeface="Times New Roman"/>
              </a:rPr>
              <a:t> Consumption Comb</a:t>
            </a:r>
            <a:r>
              <a:rPr lang="en-US" sz="1600">
                <a:latin typeface="Times New Roman"/>
                <a:cs typeface="Times New Roman"/>
              </a:rPr>
              <a:t>)</a:t>
            </a:r>
            <a:endParaRPr lang="en-US" sz="1600"/>
          </a:p>
          <a:p>
            <a:endParaRPr lang="en-US" sz="1400" dirty="0">
              <a:latin typeface="Times New Roman"/>
              <a:cs typeface="Times New Roman"/>
            </a:endParaRPr>
          </a:p>
        </p:txBody>
      </p:sp>
      <p:pic>
        <p:nvPicPr>
          <p:cNvPr id="4" name="Picture 3" descr="A blue and white logo on a black background&#10;&#10;AI-generated content may be incorrect.">
            <a:extLst>
              <a:ext uri="{FF2B5EF4-FFF2-40B4-BE49-F238E27FC236}">
                <a16:creationId xmlns:a16="http://schemas.microsoft.com/office/drawing/2014/main" id="{E0AE6D90-E80C-E177-5F8E-6AC0CBEA75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9" t="16924" r="64235" b="20162"/>
          <a:stretch>
            <a:fillRect/>
          </a:stretch>
        </p:blipFill>
        <p:spPr>
          <a:xfrm>
            <a:off x="11634281" y="99116"/>
            <a:ext cx="437746" cy="465087"/>
          </a:xfrm>
          <a:prstGeom prst="rect">
            <a:avLst/>
          </a:prstGeom>
        </p:spPr>
      </p:pic>
      <p:pic>
        <p:nvPicPr>
          <p:cNvPr id="7" name="Picture 6" descr="A table with numbers and text">
            <a:extLst>
              <a:ext uri="{FF2B5EF4-FFF2-40B4-BE49-F238E27FC236}">
                <a16:creationId xmlns:a16="http://schemas.microsoft.com/office/drawing/2014/main" id="{CB3C0131-800A-0315-E77F-6C106D198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253" y="3611652"/>
            <a:ext cx="5502308" cy="2002783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6FFB92-A508-F0E0-6454-77AD7AC625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03" r="24390" b="54242"/>
          <a:stretch>
            <a:fillRect/>
          </a:stretch>
        </p:blipFill>
        <p:spPr>
          <a:xfrm>
            <a:off x="7144372" y="3813169"/>
            <a:ext cx="3426943" cy="135005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5DF3F43-B86C-6CF5-B13E-2377C5EBDFD4}"/>
              </a:ext>
            </a:extLst>
          </p:cNvPr>
          <p:cNvSpPr/>
          <p:nvPr/>
        </p:nvSpPr>
        <p:spPr>
          <a:xfrm>
            <a:off x="1911894" y="3815214"/>
            <a:ext cx="726883" cy="1600397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EEED77-321D-9725-5C58-005C5F583F54}"/>
              </a:ext>
            </a:extLst>
          </p:cNvPr>
          <p:cNvSpPr/>
          <p:nvPr/>
        </p:nvSpPr>
        <p:spPr>
          <a:xfrm rot="16200000">
            <a:off x="8623001" y="3548971"/>
            <a:ext cx="515728" cy="137088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729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238C1-694F-3C7E-5E4D-864B357AF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16E522-708E-4409-DCEC-54BC568548F2}"/>
              </a:ext>
            </a:extLst>
          </p:cNvPr>
          <p:cNvSpPr/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31913-D8E4-D7FD-8EF4-D8A3DA33C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0774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Model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BC690-6DDD-989C-51D6-1C9DD652A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182" y="1459001"/>
            <a:ext cx="8991598" cy="42219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Times New Roman"/>
                <a:cs typeface="Times New Roman"/>
              </a:rPr>
              <a:t>Validation Model Results</a:t>
            </a:r>
          </a:p>
          <a:p>
            <a:r>
              <a:rPr lang="en-US" sz="1600">
                <a:latin typeface="Times New Roman"/>
                <a:cs typeface="Times New Roman"/>
              </a:rPr>
              <a:t>R</a:t>
            </a:r>
            <a:r>
              <a:rPr lang="en-US" sz="1600" baseline="30000">
                <a:latin typeface="Times New Roman"/>
                <a:cs typeface="Times New Roman"/>
              </a:rPr>
              <a:t>2</a:t>
            </a:r>
            <a:r>
              <a:rPr lang="en-US" sz="1600">
                <a:latin typeface="Times New Roman"/>
                <a:cs typeface="Times New Roman"/>
              </a:rPr>
              <a:t> had little variance between the training and validation model.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Training R</a:t>
            </a:r>
            <a:r>
              <a:rPr lang="en-US" sz="1600" baseline="30000">
                <a:latin typeface="Times New Roman"/>
                <a:cs typeface="Times New Roman"/>
              </a:rPr>
              <a:t>2</a:t>
            </a:r>
            <a:r>
              <a:rPr lang="en-US" sz="1600">
                <a:latin typeface="Times New Roman"/>
                <a:cs typeface="Times New Roman"/>
              </a:rPr>
              <a:t>: 99.10%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Validation R</a:t>
            </a:r>
            <a:r>
              <a:rPr lang="en-US" sz="1600" baseline="30000">
                <a:latin typeface="Times New Roman"/>
                <a:cs typeface="Times New Roman"/>
              </a:rPr>
              <a:t>2</a:t>
            </a:r>
            <a:r>
              <a:rPr lang="en-US" sz="1600">
                <a:latin typeface="Times New Roman"/>
                <a:cs typeface="Times New Roman"/>
              </a:rPr>
              <a:t>: 99.08%</a:t>
            </a:r>
          </a:p>
          <a:p>
            <a:r>
              <a:rPr lang="en-US" sz="1600">
                <a:latin typeface="Times New Roman"/>
                <a:cs typeface="Times New Roman"/>
              </a:rPr>
              <a:t>RMSE had little variance between the training and validation model.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Training RMSE: 5.4543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Validation RMSE: 5.7226</a:t>
            </a:r>
          </a:p>
          <a:p>
            <a:r>
              <a:rPr lang="en-US" sz="1600">
                <a:latin typeface="Times New Roman"/>
                <a:cs typeface="Times New Roman"/>
              </a:rPr>
              <a:t>Standard Error had little variance between the training and validation model.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Training SE: 5.459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Times New Roman"/>
                <a:cs typeface="Times New Roman"/>
              </a:rPr>
              <a:t>Validation SE: 5.733</a:t>
            </a:r>
          </a:p>
          <a:p>
            <a:r>
              <a:rPr lang="en-US" sz="1600" b="1">
                <a:latin typeface="Times New Roman"/>
                <a:cs typeface="Times New Roman"/>
              </a:rPr>
              <a:t>Conclusion</a:t>
            </a:r>
            <a:r>
              <a:rPr lang="en-US" sz="1600">
                <a:latin typeface="Times New Roman"/>
                <a:cs typeface="Times New Roman"/>
              </a:rPr>
              <a:t>: The validation model suggests the estimated multiple linear regression equation is a good fit to explain the variation in CO</a:t>
            </a:r>
            <a:r>
              <a:rPr lang="en-US" sz="1600" baseline="-25000">
                <a:latin typeface="Times New Roman"/>
                <a:cs typeface="Times New Roman"/>
              </a:rPr>
              <a:t>2</a:t>
            </a:r>
            <a:r>
              <a:rPr lang="en-US" sz="1600">
                <a:latin typeface="Times New Roman"/>
                <a:cs typeface="Times New Roman"/>
              </a:rPr>
              <a:t> emissions.</a:t>
            </a:r>
          </a:p>
          <a:p>
            <a:endParaRPr lang="en-US" sz="1600">
              <a:latin typeface="Times New Roman"/>
              <a:cs typeface="Times New Roman"/>
            </a:endParaRPr>
          </a:p>
        </p:txBody>
      </p:sp>
      <p:pic>
        <p:nvPicPr>
          <p:cNvPr id="4" name="Picture 3" descr="A blue and white logo on a black background&#10;&#10;AI-generated content may be incorrect.">
            <a:extLst>
              <a:ext uri="{FF2B5EF4-FFF2-40B4-BE49-F238E27FC236}">
                <a16:creationId xmlns:a16="http://schemas.microsoft.com/office/drawing/2014/main" id="{1F90D2E6-7633-367E-8460-498AA309B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9" t="16924" r="64235" b="20162"/>
          <a:stretch>
            <a:fillRect/>
          </a:stretch>
        </p:blipFill>
        <p:spPr>
          <a:xfrm>
            <a:off x="11634281" y="99116"/>
            <a:ext cx="437746" cy="465087"/>
          </a:xfrm>
          <a:prstGeom prst="rect">
            <a:avLst/>
          </a:prstGeom>
        </p:spPr>
      </p:pic>
      <p:pic>
        <p:nvPicPr>
          <p:cNvPr id="7" name="Picture 6" descr="A close up of a number&#10;&#10;AI-generated content may be incorrect.">
            <a:extLst>
              <a:ext uri="{FF2B5EF4-FFF2-40B4-BE49-F238E27FC236}">
                <a16:creationId xmlns:a16="http://schemas.microsoft.com/office/drawing/2014/main" id="{2A259E25-3661-17C5-8E80-F7285F58E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192" y="1625735"/>
            <a:ext cx="1209844" cy="3648584"/>
          </a:xfrm>
          <a:prstGeom prst="rect">
            <a:avLst/>
          </a:prstGeom>
        </p:spPr>
      </p:pic>
      <p:pic>
        <p:nvPicPr>
          <p:cNvPr id="9" name="Picture 8" descr="A screenshot of a data table&#10;&#10;AI-generated content may be incorrect.">
            <a:extLst>
              <a:ext uri="{FF2B5EF4-FFF2-40B4-BE49-F238E27FC236}">
                <a16:creationId xmlns:a16="http://schemas.microsoft.com/office/drawing/2014/main" id="{7A6521B8-0269-36BC-7B17-D65F67EBC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43" y="5374650"/>
            <a:ext cx="6468378" cy="79068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FB6E4B-BE76-CAAA-45EC-934D1B1D2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742689"/>
              </p:ext>
            </p:extLst>
          </p:nvPr>
        </p:nvGraphicFramePr>
        <p:xfrm>
          <a:off x="9760430" y="5371201"/>
          <a:ext cx="1103417" cy="453952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103417">
                  <a:extLst>
                    <a:ext uri="{9D8B030D-6E8A-4147-A177-3AD203B41FA5}">
                      <a16:colId xmlns:a16="http://schemas.microsoft.com/office/drawing/2014/main" val="4244270251"/>
                    </a:ext>
                  </a:extLst>
                </a:gridCol>
              </a:tblGrid>
              <a:tr h="2269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RMSE Training</a:t>
                      </a:r>
                      <a:endParaRPr lang="en-IN" sz="12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06808762"/>
                  </a:ext>
                </a:extLst>
              </a:tr>
              <a:tr h="2269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u="none" strike="noStrike" dirty="0">
                          <a:effectLst/>
                        </a:rPr>
                        <a:t>5.4543</a:t>
                      </a:r>
                      <a:endParaRPr lang="en-IN" sz="12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99551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749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EC791-3853-3448-C146-055C5D0B3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41130F-F657-7D1F-25BE-D3D96FCC6B91}"/>
              </a:ext>
            </a:extLst>
          </p:cNvPr>
          <p:cNvSpPr/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0EA3B-B218-068C-B4EA-55B89B404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Residuals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DB3A2-B32A-22ED-0DE6-0DB58ADCB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031" y="1494784"/>
            <a:ext cx="11427249" cy="4777055"/>
          </a:xfrm>
        </p:spPr>
        <p:txBody>
          <a:bodyPr>
            <a:normAutofit/>
          </a:bodyPr>
          <a:lstStyle/>
          <a:p>
            <a:r>
              <a:rPr lang="en-US" sz="2600" b="1" i="1" dirty="0"/>
              <a:t>Linearity Holds</a:t>
            </a:r>
            <a:r>
              <a:rPr lang="en-US" sz="2600" dirty="0"/>
              <a:t>: random dispersion of residuals around horizontal axis </a:t>
            </a:r>
          </a:p>
          <a:p>
            <a:r>
              <a:rPr lang="en-US" sz="2600" b="1" i="1" dirty="0"/>
              <a:t>Homoscedasticity Holds</a:t>
            </a:r>
            <a:r>
              <a:rPr lang="en-US" sz="2600" dirty="0"/>
              <a:t>: constant spread around horizontal axis</a:t>
            </a:r>
          </a:p>
          <a:p>
            <a:r>
              <a:rPr lang="en-US" sz="2600" b="1" i="1" dirty="0"/>
              <a:t>Normality Holds</a:t>
            </a:r>
            <a:r>
              <a:rPr lang="en-US" sz="2600" dirty="0"/>
              <a:t>: histogram of residuals follows bell-shaped curve</a:t>
            </a:r>
          </a:p>
          <a:p>
            <a:r>
              <a:rPr lang="en-US" sz="2600" b="1" i="1" dirty="0"/>
              <a:t>Independence Holds</a:t>
            </a:r>
            <a:r>
              <a:rPr lang="en-US" sz="2600" dirty="0"/>
              <a:t>: no cyclical or alternating pattern of residuals</a:t>
            </a:r>
            <a:endParaRPr lang="en-US" sz="2600" b="1" i="1" dirty="0"/>
          </a:p>
        </p:txBody>
      </p:sp>
      <p:pic>
        <p:nvPicPr>
          <p:cNvPr id="4" name="Picture 3" descr="A blue and white logo on a black background&#10;&#10;AI-generated content may be incorrect.">
            <a:extLst>
              <a:ext uri="{FF2B5EF4-FFF2-40B4-BE49-F238E27FC236}">
                <a16:creationId xmlns:a16="http://schemas.microsoft.com/office/drawing/2014/main" id="{C7B53289-259A-2BCA-8487-BC915DFA36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9" t="16924" r="64235" b="20162"/>
          <a:stretch>
            <a:fillRect/>
          </a:stretch>
        </p:blipFill>
        <p:spPr>
          <a:xfrm>
            <a:off x="11634281" y="99116"/>
            <a:ext cx="437746" cy="4650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7A71F8-AFB1-F8D0-946C-F39CC5232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575" y="3596640"/>
            <a:ext cx="4556987" cy="31012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B06FBCF-77C8-D749-A74E-C54EBD68D2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55" y="3538846"/>
            <a:ext cx="3707355" cy="14659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FF37296-ACD5-AE96-6135-5C40E1EDF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55" y="5292964"/>
            <a:ext cx="3731429" cy="14659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C8108A2-BD05-7EED-AB4C-CB54AD1C64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210" y="3529404"/>
            <a:ext cx="3731429" cy="148495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E14F22-BE56-7AA8-0119-94E892389F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9210" y="5299618"/>
            <a:ext cx="3731429" cy="146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63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C57C06C-6EA0-B4CA-1977-1997FD5D4108}"/>
              </a:ext>
            </a:extLst>
          </p:cNvPr>
          <p:cNvSpPr/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280B99-F156-2481-A795-F9E395D3E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01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CCEEC-17CD-8A87-65E9-643E8F2E3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7379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consumption is the strongest predictor of CO₂ emissions-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Vehicles that burn more fuel emit substantially more CO₂.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 Size contributes, but less than expected-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engines increase emissions slightly.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Type changes emissions dramatically</a:t>
            </a:r>
          </a:p>
          <a:p>
            <a:pPr lvl="1"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Diesel (D):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 emissions than baseline fuel (X).</a:t>
            </a:r>
          </a:p>
          <a:p>
            <a:pPr lvl="1"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Ethanol/E-fuel (E):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Significantly lower emissions.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chemistry impacts CO₂ more than the transmission.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type has minimal environmental impact-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transmissions reduce emissions slightly.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Emissions relationships are naturally linear-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CO₂ output aligns closely with physical combustion principles.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 Consumption has a direct linear relationship with CO₂, that’s why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naturally very high.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often matters more than modeling. Fixing multicollinearity, removing redundant predictors, and creating proper categories are the steps which improved the model.</a:t>
            </a:r>
          </a:p>
          <a:p>
            <a:pPr>
              <a:lnSpc>
                <a:spcPct val="10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blue and white logo on a black background&#10;&#10;AI-generated content may be incorrect.">
            <a:extLst>
              <a:ext uri="{FF2B5EF4-FFF2-40B4-BE49-F238E27FC236}">
                <a16:creationId xmlns:a16="http://schemas.microsoft.com/office/drawing/2014/main" id="{75DA6FC9-9913-8F18-F3A5-7D3C634E9B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9" t="16924" r="64235" b="20162"/>
          <a:stretch>
            <a:fillRect/>
          </a:stretch>
        </p:blipFill>
        <p:spPr>
          <a:xfrm>
            <a:off x="11634281" y="99116"/>
            <a:ext cx="437746" cy="465087"/>
          </a:xfrm>
          <a:prstGeom prst="rect">
            <a:avLst/>
          </a:prstGeom>
        </p:spPr>
      </p:pic>
      <p:pic>
        <p:nvPicPr>
          <p:cNvPr id="6" name="Picture 5" descr="A blue and white logo on a black background&#10;&#10;AI-generated content may be incorrect.">
            <a:extLst>
              <a:ext uri="{FF2B5EF4-FFF2-40B4-BE49-F238E27FC236}">
                <a16:creationId xmlns:a16="http://schemas.microsoft.com/office/drawing/2014/main" id="{E9BA125C-B5E0-8B35-87FC-2C5BF2BEF8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9" t="16924" r="64235" b="20162"/>
          <a:stretch>
            <a:fillRect/>
          </a:stretch>
        </p:blipFill>
        <p:spPr>
          <a:xfrm>
            <a:off x="11634281" y="6153664"/>
            <a:ext cx="437746" cy="46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900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EC100-2F5F-0E0E-B2E7-A93CD61F9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C9F891-E08E-EED7-E09F-2254C7EF0191}"/>
              </a:ext>
            </a:extLst>
          </p:cNvPr>
          <p:cNvSpPr/>
          <p:nvPr/>
        </p:nvSpPr>
        <p:spPr>
          <a:xfrm>
            <a:off x="0" y="0"/>
            <a:ext cx="12192000" cy="1162050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05D19-82D6-71FE-C5EB-672BFA61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01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  <a:latin typeface="Times New Roman"/>
                <a:cs typeface="Times New Roman"/>
              </a:rPr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204E5-45FF-4B8B-FA8E-C9765A991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737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blue and white logo on a black background&#10;&#10;AI-generated content may be incorrect.">
            <a:extLst>
              <a:ext uri="{FF2B5EF4-FFF2-40B4-BE49-F238E27FC236}">
                <a16:creationId xmlns:a16="http://schemas.microsoft.com/office/drawing/2014/main" id="{AF7F102C-0ED5-37F6-7CBA-FEB4910055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9" t="16924" r="64235" b="20162"/>
          <a:stretch>
            <a:fillRect/>
          </a:stretch>
        </p:blipFill>
        <p:spPr>
          <a:xfrm>
            <a:off x="11634281" y="99116"/>
            <a:ext cx="437746" cy="465087"/>
          </a:xfrm>
          <a:prstGeom prst="rect">
            <a:avLst/>
          </a:prstGeom>
        </p:spPr>
      </p:pic>
      <p:pic>
        <p:nvPicPr>
          <p:cNvPr id="6" name="Picture 5" descr="A blue and white logo on a black background&#10;&#10;AI-generated content may be incorrect.">
            <a:extLst>
              <a:ext uri="{FF2B5EF4-FFF2-40B4-BE49-F238E27FC236}">
                <a16:creationId xmlns:a16="http://schemas.microsoft.com/office/drawing/2014/main" id="{1ED54556-27EB-1314-587A-CF04C1D321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9" t="16924" r="64235" b="20162"/>
          <a:stretch>
            <a:fillRect/>
          </a:stretch>
        </p:blipFill>
        <p:spPr>
          <a:xfrm>
            <a:off x="11634281" y="6153664"/>
            <a:ext cx="437746" cy="4650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055277-A425-54A7-0DDB-AFAF5C82508F}"/>
              </a:ext>
            </a:extLst>
          </p:cNvPr>
          <p:cNvSpPr txBox="1"/>
          <p:nvPr/>
        </p:nvSpPr>
        <p:spPr>
          <a:xfrm>
            <a:off x="852115" y="1657463"/>
            <a:ext cx="10764605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2000">
                <a:latin typeface="Times New Roman"/>
                <a:cs typeface="Times New Roman"/>
              </a:rPr>
              <a:t>Explore the impact of removing and swapping independent variables from the model to analyze the impact on R</a:t>
            </a:r>
            <a:r>
              <a:rPr lang="en-US" sz="2000" baseline="30000">
                <a:latin typeface="Times New Roman"/>
                <a:cs typeface="Times New Roman"/>
              </a:rPr>
              <a:t>2</a:t>
            </a:r>
            <a:r>
              <a:rPr lang="en-US" sz="2000">
                <a:latin typeface="Times New Roman"/>
                <a:cs typeface="Times New Roman"/>
              </a:rPr>
              <a:t>.</a:t>
            </a:r>
          </a:p>
          <a:p>
            <a:pPr marL="628650" lvl="1" indent="-171450">
              <a:buFont typeface="Courier New"/>
              <a:buChar char="o"/>
            </a:pPr>
            <a:r>
              <a:rPr lang="en-US" sz="2000">
                <a:latin typeface="Times New Roman"/>
                <a:cs typeface="Times New Roman"/>
              </a:rPr>
              <a:t>Example: Removing </a:t>
            </a:r>
            <a:r>
              <a:rPr lang="en-US" sz="2000" err="1">
                <a:latin typeface="Times New Roman"/>
                <a:cs typeface="Times New Roman"/>
              </a:rPr>
              <a:t>x</a:t>
            </a:r>
            <a:r>
              <a:rPr lang="en-US" sz="2000" baseline="-25000" err="1">
                <a:latin typeface="Times New Roman"/>
                <a:cs typeface="Times New Roman"/>
              </a:rPr>
              <a:t>Trans_SemiAuto</a:t>
            </a:r>
            <a:r>
              <a:rPr lang="en-US" sz="2000">
                <a:latin typeface="Times New Roman"/>
                <a:cs typeface="Times New Roman"/>
              </a:rPr>
              <a:t> from model due to being identified as an insignificant variable.</a:t>
            </a:r>
          </a:p>
          <a:p>
            <a:pPr marL="628650" lvl="1" indent="-171450">
              <a:buFont typeface="Courier New"/>
              <a:buChar char="o"/>
            </a:pPr>
            <a:r>
              <a:rPr lang="en-US" sz="2000">
                <a:latin typeface="Times New Roman"/>
                <a:cs typeface="Times New Roman"/>
              </a:rPr>
              <a:t>Example: Swap Engine Size variable for Cylinder variable. </a:t>
            </a:r>
          </a:p>
          <a:p>
            <a:pPr marL="628650" lvl="1" indent="-171450">
              <a:buFont typeface="Courier New"/>
              <a:buChar char="o"/>
            </a:pPr>
            <a:r>
              <a:rPr lang="en-US" sz="2000">
                <a:latin typeface="Times New Roman"/>
                <a:cs typeface="Times New Roman"/>
              </a:rPr>
              <a:t>Example: Swap dummy variables.</a:t>
            </a:r>
          </a:p>
          <a:p>
            <a:pPr marL="628650" lvl="1" indent="-171450">
              <a:buFont typeface="Courier New"/>
              <a:buChar char="o"/>
            </a:pPr>
            <a:endParaRPr lang="en-US" sz="2000">
              <a:latin typeface="Times New Roman"/>
              <a:cs typeface="Times New Roman"/>
            </a:endParaRPr>
          </a:p>
          <a:p>
            <a:pPr marL="628650" lvl="1" indent="-171450">
              <a:buFont typeface="Courier New"/>
              <a:buChar char="o"/>
            </a:pPr>
            <a:endParaRPr lang="en-US" sz="2000">
              <a:latin typeface="Times New Roman"/>
              <a:cs typeface="Times New Roman"/>
            </a:endParaRPr>
          </a:p>
          <a:p>
            <a:pPr marL="628650" lvl="1" indent="-171450">
              <a:buFont typeface="Courier New"/>
              <a:buChar char="o"/>
            </a:pPr>
            <a:endParaRPr lang="en-US" sz="2000">
              <a:latin typeface="Times New Roman"/>
              <a:cs typeface="Times New Roman"/>
            </a:endParaRPr>
          </a:p>
          <a:p>
            <a:pPr marL="628650" lvl="1" indent="-171450">
              <a:buFont typeface="Courier New"/>
              <a:buChar char="o"/>
            </a:pPr>
            <a:endParaRPr lang="en-US" sz="2000">
              <a:latin typeface="Times New Roman"/>
              <a:cs typeface="Times New Roman"/>
            </a:endParaRPr>
          </a:p>
          <a:p>
            <a:pPr marL="628650" lvl="1" indent="-171450">
              <a:buFont typeface="Courier New"/>
              <a:buChar char="o"/>
            </a:pPr>
            <a:endParaRPr lang="en-US" sz="2000">
              <a:latin typeface="Times New Roman"/>
              <a:cs typeface="Times New Roman"/>
            </a:endParaRPr>
          </a:p>
          <a:p>
            <a:pPr marL="628650" lvl="1" indent="-171450">
              <a:buFont typeface="Courier New"/>
              <a:buChar char="o"/>
            </a:pP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30FDAA-FF18-7994-BA84-5DBD44EE5F8E}"/>
              </a:ext>
            </a:extLst>
          </p:cNvPr>
          <p:cNvSpPr txBox="1"/>
          <p:nvPr/>
        </p:nvSpPr>
        <p:spPr>
          <a:xfrm>
            <a:off x="3056032" y="5138239"/>
            <a:ext cx="607262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Times New Roman"/>
                <a:ea typeface="Calibri"/>
                <a:cs typeface="Times New Roman"/>
              </a:rPr>
              <a:t>Questions and Feedback?</a:t>
            </a:r>
          </a:p>
        </p:txBody>
      </p:sp>
    </p:spTree>
    <p:extLst>
      <p:ext uri="{BB962C8B-B14F-4D97-AF65-F5344CB8AC3E}">
        <p14:creationId xmlns:p14="http://schemas.microsoft.com/office/powerpoint/2010/main" val="1216794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0</TotalTime>
  <Words>994</Words>
  <Application>Microsoft Office PowerPoint</Application>
  <PresentationFormat>Widescreen</PresentationFormat>
  <Paragraphs>97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Aptos Narrow</vt:lpstr>
      <vt:lpstr>Arial</vt:lpstr>
      <vt:lpstr>Courier New</vt:lpstr>
      <vt:lpstr>Times New Roman</vt:lpstr>
      <vt:lpstr>office theme</vt:lpstr>
      <vt:lpstr>Predicting CO2 Emissions by vehicles using Regression. </vt:lpstr>
      <vt:lpstr>Problem Statement</vt:lpstr>
      <vt:lpstr>Data Collection Source</vt:lpstr>
      <vt:lpstr>Variable Selection</vt:lpstr>
      <vt:lpstr>Tests: Significance &amp; Normality</vt:lpstr>
      <vt:lpstr>Tests: Multicollinearity</vt:lpstr>
      <vt:lpstr>Hypothesis Testing</vt:lpstr>
      <vt:lpstr>Predictive Analytics Model and Analysis</vt:lpstr>
      <vt:lpstr>Predictive Analytics Model and Analysis</vt:lpstr>
      <vt:lpstr>Analysis of Residuals</vt:lpstr>
      <vt:lpstr>Conclusion and Lessons Learned</vt:lpstr>
      <vt:lpstr>Future Directions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Roshan Deshmukh</dc:creator>
  <cp:lastModifiedBy>Gurav, Janhavi Nitin</cp:lastModifiedBy>
  <cp:revision>2</cp:revision>
  <dcterms:created xsi:type="dcterms:W3CDTF">2025-11-18T22:29:25Z</dcterms:created>
  <dcterms:modified xsi:type="dcterms:W3CDTF">2025-12-14T23:33:57Z</dcterms:modified>
</cp:coreProperties>
</file>